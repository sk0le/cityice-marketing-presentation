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94560"/>
            <a:ext cx="6400800" cy="6400800"/>
          </a:xfrm>
          <a:prstGeom prst="ellipse">
            <a:avLst/>
          </a:prstGeom>
          <a:solidFill>
            <a:srgbClr val="EE2C82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023360"/>
            <a:ext cx="5943600" cy="5943600"/>
          </a:xfrm>
          <a:prstGeom prst="ellipse">
            <a:avLst/>
          </a:prstGeom>
          <a:solidFill>
            <a:srgbClr val="6300D5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38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PROJEKAT IZ PREDMETA „UVOD U MARKETING“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Kutijica puna pažnje
</a:t>
            </a:r>
            <a:pPr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digitalnog nastupa.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70916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 · novogodišnja kampanja · Google Business Profil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Amel Islamović  ·  prof. Vedad Ovčina  ·  FIT, Univerzitet „Džemal Bijedić“ u Mostaru  ·  august 2026.</a:t>
            </a:r>
            <a:endParaRPr lang="en-US" sz="1300" dirty="0"/>
          </a:p>
        </p:txBody>
      </p:sp>
      <p:pic>
        <p:nvPicPr>
          <p:cNvPr id="9" name="Image 0" descr="/Users/sk0le/projects/cityice-branding/research/assets/Slado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3703320"/>
            <a:ext cx="4937760" cy="24597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CityIce: premium kutijica iz SCC-a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0136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Proizvod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07568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Sladoled i frozen yogurt „sastavi sam“: baza + preljevi + dodaci, u prepoznatljivoj kutijici. Uz to: sokovi, bubble tea, voćne salate.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898648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0837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Diferencijacija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282696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Pionir „bez“ ponude na bh. tržištu: bez glutena, bez alergena, bez GMO-a, bez mliječnih proizvoda, bez dodatih šećera.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1538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Lokacija i kanali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489704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Sarajevo City Center (treći sprat) · @cityice.ba na Instagramu, Facebooku i TikToku.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312664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42239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Filozofija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696712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„Ne postoje univerzalni ukusi“, kupac učestvuje u kreiranju svog proizvoda.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691640"/>
            <a:ext cx="4160520" cy="4663440"/>
          </a:xfrm>
          <a:prstGeom prst="roundRect">
            <a:avLst>
              <a:gd name="adj" fmla="val 3516"/>
            </a:avLst>
          </a:prstGeom>
          <a:solidFill>
            <a:srgbClr val="171040"/>
          </a:solidFill>
          <a:ln/>
        </p:spPr>
      </p:sp>
      <p:pic>
        <p:nvPicPr>
          <p:cNvPr id="17" name="Image 0" descr="/Users/sk0le/projects/cityice-branding/research/assets/Slado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880360"/>
            <a:ext cx="3886200" cy="193852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635240" y="51206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prepoznatljiva ambalaža =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osnova vizuelnog identiteta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635240" y="20116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#6300D5   #171040   #EE2C82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STANJA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Odličan proizvod, a digitalni kanali ga ne prate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 ima jak proizvod, prepoznatljivu ambalažu i aktivnu zajednicu na mrežama. Prostor za napredak je u tri digitalna kanala: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F3EB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stranica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stranica je zastarjela i duže se ne ažurira: tri stranice, bez cjenovnika, bez telefona i radnog vremena, uz stock fotografiju u hero sekciji. Ne prati vizuelni identitet ambalaže.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FDE8F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1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prisustvo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profil je nepotpun: bez objava, malo fotografija, recenzije bez odgovora. A upravo tu kupci u SCC-u traže gdje na sladoled.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EFF9F4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Društvene mreže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Najjača tačka: profili aktivni, zajednica postoji. Nedostaju ujednačeni vizuali i spreman set kampanjskih materijala za sezonu.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PRIJEDLOG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aktivnosti, potpuno završene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 samo tri? </a:t>
            </a:r>
            <a:pPr indent="0" marL="0">
              <a:buNone/>
            </a:pPr>
            <a:r>
              <a:rPr lang="en-US" sz="13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Cijeli projekat je morao biti završen do kraja augusta, prije septembarskog roka, i sve radi jedna osoba. Zato je obim svjesno sužen na aktivnosti s najvećim efektom: bolje tri stvari završene do kraja, nego deset započetih.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80360"/>
            <a:ext cx="685800" cy="685800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Potpuno nova, moderna i brza stranica s ponudom, lokacijom i novogodišnjom promo sekcijom.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880360"/>
            <a:ext cx="685800" cy="685800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novogodišnjih vizuala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Kampanja popusta: 3 posta + 2 story-ja + univerzalni template. Osoblje ih samo prilagođava.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880360"/>
            <a:ext cx="685800" cy="685800"/>
          </a:xfrm>
          <a:prstGeom prst="ellipse">
            <a:avLst/>
          </a:prstGeom>
          <a:solidFill>
            <a:srgbClr val="171040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Profil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Preuzimanje, kompletiranje i optimizacija profila + plan objava za sezonu i vodič za recenzije.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obima, ostavljeno za buduću saradnju: plaćene kampanje, kontinuirano vođenje mreža, e-mail marketing, loyalty program.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1: NOVA WEB STRANICA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cityice.ba, dostojan kutijice</a:t>
            </a:r>
            <a:endParaRPr lang="en-US" sz="3200" dirty="0"/>
          </a:p>
        </p:txBody>
      </p:sp>
      <p:pic>
        <p:nvPicPr>
          <p:cNvPr id="4" name="Image 0" descr="/private/tmp/claude-501/-Users-sk0le-projects-cityice-branding/ea730d60-a96c-4cb7-ba1b-92f396fdb98b/scratchpad/sho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645920"/>
            <a:ext cx="7315200" cy="457200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171040">
                <a:alpha val="3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828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Tehnologija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248" y="2057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Moderna i brza izrada, bez zastarjelih i teških dodataka.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 prije svega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" y="3200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Boje i tekstura preuzete direktno s ambalaže; prava fotografija proizvoda umjesto stock slike.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 što kupac traži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41248" y="4343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Ponuda, „kako radi kutijica“, radno vrijeme, mapa i česta pitanja.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5257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" y="5212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osnove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41248" y="5486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tagovi, Open Graph, JSON-LD (IceCreamShop), bs jezik.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1: NOVA WEB STRANICA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ponude do odbrojavanja</a:t>
            </a:r>
            <a:endParaRPr lang="en-US" sz="3200" dirty="0"/>
          </a:p>
        </p:txBody>
      </p:sp>
      <p:pic>
        <p:nvPicPr>
          <p:cNvPr id="4" name="Image 0" descr="/private/tmp/claude-501/-Users-sk0le-projects-cityice-branding/ea730d60-a96c-4cb7-ba1b-92f396fdb98b/scratchpad/shot-ponu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852160" cy="3657600"/>
          </a:xfrm>
          <a:prstGeom prst="roundRect">
            <a:avLst/>
          </a:prstGeom>
          <a:effectLst>
            <a:outerShdw sx="100000" sy="100000" kx="0" ky="0" algn="bl" rotWithShape="0" blurRad="152400" dist="38100" dir="5400000">
              <a:srgbClr val="171040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5321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 s ilustracijama u brend stilu</a:t>
            </a:r>
            <a:endParaRPr lang="en-US" sz="1150" dirty="0"/>
          </a:p>
        </p:txBody>
      </p:sp>
      <p:pic>
        <p:nvPicPr>
          <p:cNvPr id="6" name="Image 1" descr="/private/tmp/claude-501/-Users-sk0le-projects-cityice-branding/ea730d60-a96c-4cb7-ba1b-92f396fdb98b/scratchpad/shot-pro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783080"/>
            <a:ext cx="4857293" cy="3035808"/>
          </a:xfrm>
          <a:prstGeom prst="roundRect">
            <a:avLst/>
          </a:prstGeom>
          <a:effectLst>
            <a:outerShdw sx="100000" sy="100000" kx="0" ky="0" algn="bl" rotWithShape="0" blurRad="152400" dist="38100" dir="5400000">
              <a:srgbClr val="171040">
                <a:alpha val="2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6720840" y="4892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Novogodišnja sekcija s odbrojavanjem: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uključuje se jednim prekidačem, nestaje nakon praznika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720840" y="5806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71040"/>
          </a:solidFill>
          <a:ln/>
        </p:spPr>
      </p:sp>
      <p:sp>
        <p:nvSpPr>
          <p:cNvPr id="9" name="Text 5"/>
          <p:cNvSpPr/>
          <p:nvPr/>
        </p:nvSpPr>
        <p:spPr>
          <a:xfrm>
            <a:off x="6720840" y="5806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PageSpeed cilj: 90+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281160" y="5806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EE2C82"/>
          </a:solidFill>
          <a:ln/>
        </p:spPr>
      </p:sp>
      <p:sp>
        <p:nvSpPr>
          <p:cNvPr id="11" name="Text 7"/>
          <p:cNvSpPr/>
          <p:nvPr/>
        </p:nvSpPr>
        <p:spPr>
          <a:xfrm>
            <a:off x="9281160" y="5806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responsive: mobile-first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2: NOVOGODIŠNJA KAMPANJA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Šest vizuala, jedan prepoznatljiv stil</a:t>
            </a:r>
            <a:endParaRPr lang="en-US" sz="3200" dirty="0"/>
          </a:p>
        </p:txBody>
      </p:sp>
      <p:pic>
        <p:nvPicPr>
          <p:cNvPr id="4" name="Image 0" descr="/Users/sk0le/projects/cityice-branding/03-templates/png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5" name="Image 1" descr="/Users/sk0le/projects/cityice-branding/03-templates/png/Popu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6" name="Image 2" descr="/Users/sk0le/projects/cityice-branding/03-templates/png/DvaZaJed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68580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/ Facebook postovi (1080×1080):  najava kampanje  ·  −20% na sve kutijice  ·  „2 za 1“ za doček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2: NOVOGODIŠNJA KAMPANJA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formati + template za svaki dan</a:t>
            </a:r>
            <a:endParaRPr lang="en-US" sz="3200" dirty="0"/>
          </a:p>
        </p:txBody>
      </p:sp>
      <p:pic>
        <p:nvPicPr>
          <p:cNvPr id="4" name="Image 0" descr="/Users/sk0le/projects/cityice-branding/03-templates/png/StoryCount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828800"/>
            <a:ext cx="228600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5" name="Image 1" descr="/Users/sk0le/projects/cityice-branding/03-templates/png/StoryDnev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828800"/>
            <a:ext cx="228600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6" name="Image 2" descr="/Users/sk0le/projects/cityice-branding/03-templates/png/Univerzaln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828800"/>
            <a:ext cx="406908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685800" y="6035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 story (dnevno)      ·      „Ponuda dana“ story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7178040" y="5989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Univerzalni template: upiše se novi popust/ukus/datum,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osoblje ga koristi bez dizajnera cijelu sezonu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3: GOOGLE BUSINESS PROFIL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Tamo gdje kupci zaista traže sladoled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10512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8013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Preuzimanje i verifikacija: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business.google.com, firmin račun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06624"/>
            <a:ext cx="475488" cy="475488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7066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Kompletiranje profila: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kategorije, radno vrijeme (+ praznično!), telefon, link na novu stranicu, opis od 750 znakova spreman u vodiču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602736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935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fotografija: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kutijice, vitrina, lokal, tim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98848"/>
            <a:ext cx="475488" cy="475488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48970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objava po planu kampanje: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 vizuali iz aktivnosti 2, bez dodatnog dizajna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394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38581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Recenzije: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kod na pultu + šablon odgovora na pozitivne i negativne (u roku 24–48 h)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783080"/>
            <a:ext cx="3977640" cy="4343400"/>
          </a:xfrm>
          <a:prstGeom prst="roundRect">
            <a:avLst>
              <a:gd name="adj" fmla="val 3218"/>
            </a:avLst>
          </a:prstGeom>
          <a:solidFill>
            <a:srgbClr val="F3EBFF"/>
          </a:solidFill>
          <a:ln/>
        </p:spPr>
      </p:sp>
      <p:sp>
        <p:nvSpPr>
          <p:cNvPr id="20" name="Text 18"/>
          <p:cNvSpPr/>
          <p:nvPr/>
        </p:nvSpPr>
        <p:spPr>
          <a:xfrm>
            <a:off x="790956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objava - decembar/januar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09560" y="24688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15. 12.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2396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najava kampanje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09560" y="287121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20. 12.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3960" y="2871216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ponuda: −20% (Offer objava)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09560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27. 12.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2735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 sedmice (univerzalni)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09560" y="36758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30. 12.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23960" y="36758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„2 za 1“ za doček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09560" y="407822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2. 1.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823960" y="407822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nastavak do 15. 1.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09560" y="47091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Mjerenje: kartica „Izvedba“ (pregledi profila, klikovi na stranicu i upute), poređenje decembar vs. novembar.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Četiri sedmice, mjerljiv rezultat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395728"/>
            <a:ext cx="9875520" cy="0"/>
          </a:xfrm>
          <a:prstGeom prst="line">
            <a:avLst/>
          </a:prstGeom>
          <a:noFill/>
          <a:ln w="31750">
            <a:solidFill>
              <a:srgbClr val="D8D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+ odobren prijedlog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3931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Sedmice 2–3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izrada web stranice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7395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1792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dizajn 6 vizuala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0859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05256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profil + primopredaja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17104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KM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7724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budžet: studentski projekat, jedini trošak je postojeći hosting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2900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365760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ciljna PageSpeed ocjena nove stranice (mobilna)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5379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kompletiranost Google Business Profila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8972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941832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41832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objava i vizuala spremno prije 15. decembra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560320"/>
            <a:ext cx="7315200" cy="7315200"/>
          </a:xfrm>
          <a:prstGeom prst="ellipse">
            <a:avLst/>
          </a:prstGeom>
          <a:solidFill>
            <a:srgbClr val="EE2C82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743200" y="3566160"/>
            <a:ext cx="6858000" cy="6858000"/>
          </a:xfrm>
          <a:prstGeom prst="ellipse">
            <a:avLst/>
          </a:prstGeom>
          <a:solidFill>
            <a:srgbClr val="6300D5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38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Cijeli put kupca, pokriven:
</a:t>
            </a:r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pronađe → provjeri → kupi.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3438144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383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Profil: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kupac PRONAĐE CityIce u pretrazi i na mapama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096512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0416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kupac PROVJERI ponudu, lokaciju i radno vrijeme - na sigurnoj stranici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754880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7000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Novogodišnji vizuali: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kampanja ga UVJERI da praznike zasladi kutijicom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Hvala na pažnji!  ·  Amel Islamović  ·  amel@takumiagency.com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2026-08-23T14:30:49Z</dcterms:created>
  <dcterms:modified xsi:type="dcterms:W3CDTF">2026-08-23T14:30:49Z</dcterms:modified>
</cp:coreProperties>
</file>