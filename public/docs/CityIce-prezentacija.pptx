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6400800" cy="6400800"/>
          </a:xfrm>
          <a:prstGeom prst="ellipse">
            <a:avLst/>
          </a:prstGeom>
          <a:solidFill>
            <a:srgbClr val="EE2C8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023360"/>
            <a:ext cx="5943600" cy="5943600"/>
          </a:xfrm>
          <a:prstGeom prst="ellipse">
            <a:avLst/>
          </a:prstGeom>
          <a:solidFill>
            <a:srgbClr val="6300D5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515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cityice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38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PROJEKAT IZ PREDMETA „UVOD U MARKETING“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Kutijica puna pažnje
</a:t>
            </a:r>
            <a:pPr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EE2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digitalnog nastupa.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web stranica · novogodišnja kampanja · Google Business Profil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Amel Islamović  ·  prof. Vedad Ovčina  ·  FIT, Univerzitet „Džemal Bijedić“ u Mostaru  ·  august 2026.</a:t>
            </a:r>
            <a:endParaRPr lang="en-US" sz="1300" dirty="0"/>
          </a:p>
        </p:txBody>
      </p:sp>
      <p:pic>
        <p:nvPicPr>
          <p:cNvPr id="9" name="Image 0" descr="/Users/sk0le/projects/cityice-branding/research/assets/Slado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3703320"/>
            <a:ext cx="4937760" cy="24597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E2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KLIJENT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CityIce: premium kutijica iz SCC-a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583680" cy="1042416"/>
          </a:xfrm>
          <a:prstGeom prst="roundRect">
            <a:avLst>
              <a:gd name="adj" fmla="val 10526"/>
            </a:avLst>
          </a:prstGeom>
          <a:solidFill>
            <a:srgbClr val="F3EB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0136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0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Proizvod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7568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Sladoled i frozen yogurt „sastavi sam“: baza + preljevi + dodaci, u prepoznatljivoj kutijici. Uz to: sokovi, bubble tea, voćne salate.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898648"/>
            <a:ext cx="6583680" cy="1042416"/>
          </a:xfrm>
          <a:prstGeom prst="roundRect">
            <a:avLst>
              <a:gd name="adj" fmla="val 10526"/>
            </a:avLst>
          </a:prstGeom>
          <a:solidFill>
            <a:srgbClr val="F3EB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00837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0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Diferencijacija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282696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Pionir „bez“ ponude na bh. tržištu: bez glutena, bez alergena, bez GMO-a, bez mliječnih proizvoda, bez dodatih šećera.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105656"/>
            <a:ext cx="6583680" cy="1042416"/>
          </a:xfrm>
          <a:prstGeom prst="roundRect">
            <a:avLst>
              <a:gd name="adj" fmla="val 10526"/>
            </a:avLst>
          </a:prstGeom>
          <a:solidFill>
            <a:srgbClr val="F3EB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21538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0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Lokacija i kanali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489704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Sarajevo City Center (treći sprat) · @cityice.ba na Instagramu, Facebooku i TikToku.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312664"/>
            <a:ext cx="6583680" cy="1042416"/>
          </a:xfrm>
          <a:prstGeom prst="roundRect">
            <a:avLst>
              <a:gd name="adj" fmla="val 10526"/>
            </a:avLst>
          </a:prstGeom>
          <a:solidFill>
            <a:srgbClr val="F3EB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42239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0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Filozofija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696712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„Ne postoje univerzalni ukusi“, kupac učestvuje u kreiranju svog proizvoda.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52360" y="1691640"/>
            <a:ext cx="4160520" cy="4663440"/>
          </a:xfrm>
          <a:prstGeom prst="roundRect">
            <a:avLst>
              <a:gd name="adj" fmla="val 3516"/>
            </a:avLst>
          </a:prstGeom>
          <a:solidFill>
            <a:srgbClr val="171040"/>
          </a:solidFill>
          <a:ln/>
        </p:spPr>
      </p:sp>
      <p:pic>
        <p:nvPicPr>
          <p:cNvPr id="17" name="Image 0" descr="/Users/sk0le/projects/cityice-branding/research/assets/Slado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880360"/>
            <a:ext cx="3886200" cy="193852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635240" y="51206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8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prepoznatljiva ambalaža =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D8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osnova vizuelnog identiteta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635240" y="20116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#6300D5   #171040   #EE2C82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50315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E2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STANJA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Odličan proizvod, a digitalni kanali ga ne prate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Brend ima jak proizvod, prepoznatljivu ambalažu i aktivnu zajednicu na mrežama. Prostor za napredak je u tri digitalna kanala: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66160" cy="3566160"/>
          </a:xfrm>
          <a:prstGeom prst="roundRect">
            <a:avLst>
              <a:gd name="adj" fmla="val 3590"/>
            </a:avLst>
          </a:prstGeom>
          <a:solidFill>
            <a:srgbClr val="F3EB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0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stranica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Postojeća stranica je zastarjela i duže se ne ažurira: tri stranice, bez cjenovnika, bez telefona i radnog vremena, uz stock fotografiju u hero sekciji. Ne prati vizuelni identitet ambalaže.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377440"/>
            <a:ext cx="3566160" cy="3566160"/>
          </a:xfrm>
          <a:prstGeom prst="roundRect">
            <a:avLst>
              <a:gd name="adj" fmla="val 3590"/>
            </a:avLst>
          </a:prstGeom>
          <a:solidFill>
            <a:srgbClr val="FDE8F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1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prisustvo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32004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profil je nepotpun: bez objava, malo fotografija, recenzije bez odgovora. A upravo tu kupci u SCC-u traže gdje na sladoled.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2377440"/>
            <a:ext cx="3566160" cy="3566160"/>
          </a:xfrm>
          <a:prstGeom prst="roundRect">
            <a:avLst>
              <a:gd name="adj" fmla="val 3590"/>
            </a:avLst>
          </a:prstGeom>
          <a:solidFill>
            <a:srgbClr val="EFF9F4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Društvene mreže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32004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Najjača tačka: profili aktivni, zajednica postoji. Nedostaju ujednačeni vizuali i spreman set kampanjskih materijala za sezonu.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0315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E2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PRIJEDLOG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 aktivnosti, potpuno završene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2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Zašto samo tri? </a:t>
            </a:r>
            <a:pPr indent="0" marL="0">
              <a:buNone/>
            </a:pPr>
            <a:r>
              <a:rPr lang="en-US" sz="1350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Projekat mora biti gotov u toku semestra, prije novogodišnje sezone, i sve radi jedna osoba. Zato je obim svjesno sužen na aktivnosti s najvećim efektom: bolje tri stvari završene do kraja, nego deset započetih.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6616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E4E0EF"/>
            </a:solidFill>
            <a:prstDash val="solid"/>
          </a:ln>
          <a:effectLst>
            <a:outerShdw sx="100000" sy="100000" kx="0" ky="0" algn="bl" rotWithShape="0" blurRad="152400" dist="38100" dir="5400000">
              <a:srgbClr val="1710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80360"/>
            <a:ext cx="685800" cy="685800"/>
          </a:xfrm>
          <a:prstGeom prst="ellipse">
            <a:avLst/>
          </a:prstGeom>
          <a:solidFill>
            <a:srgbClr val="6300D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web stranica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Potpuno nova, moderna i brza stranica s ponudom, lokacijom i novogodišnjom promo sekcijom.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606040"/>
            <a:ext cx="356616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E4E0EF"/>
            </a:solidFill>
            <a:prstDash val="solid"/>
          </a:ln>
          <a:effectLst>
            <a:outerShdw sx="100000" sy="100000" kx="0" ky="0" algn="bl" rotWithShape="0" blurRad="152400" dist="38100" dir="5400000">
              <a:srgbClr val="17104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880360"/>
            <a:ext cx="685800" cy="685800"/>
          </a:xfrm>
          <a:prstGeom prst="ellipse">
            <a:avLst/>
          </a:prstGeom>
          <a:solidFill>
            <a:srgbClr val="EE2C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3749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novogodišnjih vizuala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44348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Kampanja popusta: 3 posta + 2 story-ja + univerzalni template. Osoblje ih samo prilagođava.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06040"/>
            <a:ext cx="356616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E4E0EF"/>
            </a:solidFill>
            <a:prstDash val="solid"/>
          </a:ln>
          <a:effectLst>
            <a:outerShdw sx="100000" sy="100000" kx="0" ky="0" algn="bl" rotWithShape="0" blurRad="152400" dist="38100" dir="5400000">
              <a:srgbClr val="17104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880360"/>
            <a:ext cx="685800" cy="685800"/>
          </a:xfrm>
          <a:prstGeom prst="ellipse">
            <a:avLst/>
          </a:prstGeom>
          <a:solidFill>
            <a:srgbClr val="171040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21040" y="3749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Business Profil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44348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Preuzimanje, kompletiranje i optimizacija profila + plan objava za sezonu i vodič za recenzije.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obima (nedostatak vremena): plaćene kampanje, kontinuirano vođenje mreža, e-mail marketing, loyalty program.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0315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E2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AKTIVNOST 1: NOVA WEB STRANICA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cityice.ba, dostojan kutijice</a:t>
            </a:r>
            <a:endParaRPr lang="en-US" sz="3200" dirty="0"/>
          </a:p>
        </p:txBody>
      </p:sp>
      <p:pic>
        <p:nvPicPr>
          <p:cNvPr id="4" name="Image 0" descr="/private/tmp/claude-501/-Users-sk0le-projects-cityice-branding/ea730d60-a96c-4cb7-ba1b-92f396fdb98b/scratchpad/shot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645920"/>
            <a:ext cx="7315200" cy="4572000"/>
          </a:xfrm>
          <a:prstGeom prst="roundRect">
            <a:avLst/>
          </a:prstGeom>
          <a:effectLst>
            <a:outerShdw sx="100000" sy="100000" kx="0" ky="0" algn="bl" rotWithShape="0" blurRad="177800" dist="50800" dir="5400000">
              <a:srgbClr val="171040">
                <a:alpha val="3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48640" y="1828800"/>
            <a:ext cx="146304" cy="146304"/>
          </a:xfrm>
          <a:prstGeom prst="ellipse">
            <a:avLst/>
          </a:prstGeom>
          <a:solidFill>
            <a:srgbClr val="EE2C82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Tehnologija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1248" y="20574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Moderna i brza izrada, bez zastarjelih i teških dodataka.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146304" cy="146304"/>
          </a:xfrm>
          <a:prstGeom prst="ellipse">
            <a:avLst/>
          </a:prstGeom>
          <a:solidFill>
            <a:srgbClr val="EE2C8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Brend prije svega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" y="32004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Boje i tekstura preuzete direktno s ambalaže; prava fotografija proizvoda umjesto stock slike.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4114800"/>
            <a:ext cx="146304" cy="146304"/>
          </a:xfrm>
          <a:prstGeom prst="ellipse">
            <a:avLst/>
          </a:prstGeom>
          <a:solidFill>
            <a:srgbClr val="EE2C82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 što kupac traži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" y="43434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Ponuda, „kako radi kutijica“, radno vrijeme, mapa i česta pitanja.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5257800"/>
            <a:ext cx="146304" cy="146304"/>
          </a:xfrm>
          <a:prstGeom prst="ellipse">
            <a:avLst/>
          </a:prstGeom>
          <a:solidFill>
            <a:srgbClr val="EE2C8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5212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osnove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41248" y="54864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tagovi, Open Graph, JSON-LD (IceCreamShop), bs jezik.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50315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E2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AKTIVNOST 1: NOVA WEB STRANICA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ponude do odbrojavanja</a:t>
            </a:r>
            <a:endParaRPr lang="en-US" sz="3200" dirty="0"/>
          </a:p>
        </p:txBody>
      </p:sp>
      <p:pic>
        <p:nvPicPr>
          <p:cNvPr id="4" name="Image 0" descr="/private/tmp/claude-501/-Users-sk0le-projects-cityice-branding/ea730d60-a96c-4cb7-ba1b-92f396fdb98b/scratchpad/shot-ponu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852160" cy="3657600"/>
          </a:xfrm>
          <a:prstGeom prst="roundRect">
            <a:avLst/>
          </a:prstGeom>
          <a:effectLst>
            <a:outerShdw sx="100000" sy="100000" kx="0" ky="0" algn="bl" rotWithShape="0" blurRad="152400" dist="38100" dir="5400000">
              <a:srgbClr val="171040">
                <a:alpha val="2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5532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Ponuda s ilustracijama u brend stilu</a:t>
            </a:r>
            <a:endParaRPr lang="en-US" sz="1150" dirty="0"/>
          </a:p>
        </p:txBody>
      </p:sp>
      <p:pic>
        <p:nvPicPr>
          <p:cNvPr id="6" name="Image 1" descr="/private/tmp/claude-501/-Users-sk0le-projects-cityice-branding/ea730d60-a96c-4cb7-ba1b-92f396fdb98b/scratchpad/shot-pro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783080"/>
            <a:ext cx="4857293" cy="3035808"/>
          </a:xfrm>
          <a:prstGeom prst="roundRect">
            <a:avLst/>
          </a:prstGeom>
          <a:effectLst>
            <a:outerShdw sx="100000" sy="100000" kx="0" ky="0" algn="bl" rotWithShape="0" blurRad="152400" dist="38100" dir="5400000">
              <a:srgbClr val="171040">
                <a:alpha val="2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6720840" y="4892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Novogodišnja sekcija s odbrojavanjem: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uključuje se jednim prekidačem, nestaje nakon praznika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720840" y="58064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71040"/>
          </a:solidFill>
          <a:ln/>
        </p:spPr>
      </p:sp>
      <p:sp>
        <p:nvSpPr>
          <p:cNvPr id="9" name="Text 5"/>
          <p:cNvSpPr/>
          <p:nvPr/>
        </p:nvSpPr>
        <p:spPr>
          <a:xfrm>
            <a:off x="6720840" y="5806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PageSpeed cilj: 90+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9281160" y="58064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E2C82"/>
          </a:solidFill>
          <a:ln/>
        </p:spPr>
      </p:sp>
      <p:sp>
        <p:nvSpPr>
          <p:cNvPr id="11" name="Text 7"/>
          <p:cNvSpPr/>
          <p:nvPr/>
        </p:nvSpPr>
        <p:spPr>
          <a:xfrm>
            <a:off x="9281160" y="5806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responsive: mobile-first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50315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E2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AKTIVNOST 2: NOVOGODIŠNJA KAMPANJA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Šest vizuala, jedan prepoznatljiv stil</a:t>
            </a:r>
            <a:endParaRPr lang="en-US" sz="3200" dirty="0"/>
          </a:p>
        </p:txBody>
      </p:sp>
      <p:pic>
        <p:nvPicPr>
          <p:cNvPr id="4" name="Image 0" descr="/Users/sk0le/projects/cityice-branding/03-templates/png/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3520440" cy="3520440"/>
          </a:xfrm>
          <a:prstGeom prst="round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40000"/>
              </a:srgbClr>
            </a:outerShdw>
          </a:effectLst>
        </p:spPr>
      </p:pic>
      <p:pic>
        <p:nvPicPr>
          <p:cNvPr id="5" name="Image 1" descr="/Users/sk0le/projects/cityice-branding/03-templates/png/Popu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828800"/>
            <a:ext cx="3520440" cy="3520440"/>
          </a:xfrm>
          <a:prstGeom prst="round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40000"/>
              </a:srgbClr>
            </a:outerShdw>
          </a:effectLst>
        </p:spPr>
      </p:pic>
      <p:pic>
        <p:nvPicPr>
          <p:cNvPr id="6" name="Image 2" descr="/Users/sk0le/projects/cityice-branding/03-templates/png/DvaZaJed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28800"/>
            <a:ext cx="3520440" cy="3520440"/>
          </a:xfrm>
          <a:prstGeom prst="round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40000"/>
              </a:srgbClr>
            </a:outerShdw>
          </a:effectLst>
        </p:spPr>
      </p:pic>
      <p:sp>
        <p:nvSpPr>
          <p:cNvPr id="7" name="Text 2"/>
          <p:cNvSpPr/>
          <p:nvPr/>
        </p:nvSpPr>
        <p:spPr>
          <a:xfrm>
            <a:off x="68580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/ Facebook postovi (1080×1080):  najava kampanje  ·  −20% na sve kutijice  ·  „2 za 1“ za doček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1150315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E2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AKTIVNOST 2: NOVOGODIŠNJA KAMPANJA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formati + template za svaki dan</a:t>
            </a:r>
            <a:endParaRPr lang="en-US" sz="3200" dirty="0"/>
          </a:p>
        </p:txBody>
      </p:sp>
      <p:pic>
        <p:nvPicPr>
          <p:cNvPr id="4" name="Image 0" descr="/Users/sk0le/projects/cityice-branding/03-templates/png/StoryCount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828800"/>
            <a:ext cx="2286000" cy="4069080"/>
          </a:xfrm>
          <a:prstGeom prst="round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40000"/>
              </a:srgbClr>
            </a:outerShdw>
          </a:effectLst>
        </p:spPr>
      </p:pic>
      <p:pic>
        <p:nvPicPr>
          <p:cNvPr id="5" name="Image 1" descr="/Users/sk0le/projects/cityice-branding/03-templates/png/StoryDnev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828800"/>
            <a:ext cx="2286000" cy="4069080"/>
          </a:xfrm>
          <a:prstGeom prst="round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40000"/>
              </a:srgbClr>
            </a:outerShdw>
          </a:effectLst>
        </p:spPr>
      </p:pic>
      <p:pic>
        <p:nvPicPr>
          <p:cNvPr id="6" name="Image 2" descr="/Users/sk0le/projects/cityice-branding/03-templates/png/Univerzaln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828800"/>
            <a:ext cx="4069080" cy="4069080"/>
          </a:xfrm>
          <a:prstGeom prst="round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40000"/>
              </a:srgbClr>
            </a:outerShdw>
          </a:effectLst>
        </p:spPr>
      </p:pic>
      <p:sp>
        <p:nvSpPr>
          <p:cNvPr id="7" name="Text 2"/>
          <p:cNvSpPr/>
          <p:nvPr/>
        </p:nvSpPr>
        <p:spPr>
          <a:xfrm>
            <a:off x="685800" y="60350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Countdown story (dnevno)      ·      „Ponuda dana“ story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7178040" y="59893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Univerzalni template: upiše se novi popust/ukus/datum,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8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osoblje ga koristi bez dizajnera cijelu sezonu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150315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E2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AKTIVNOST 3: GOOGLE BUSINESS PROFIL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Tamo gdje kupci zaista traže sladoled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475488" cy="475488"/>
          </a:xfrm>
          <a:prstGeom prst="ellipse">
            <a:avLst/>
          </a:prstGeom>
          <a:solidFill>
            <a:srgbClr val="6300D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80136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Preuzimanje i verifikacija:  </a:t>
            </a:r>
            <a:pPr indent="0" marL="0">
              <a:buNone/>
            </a:pPr>
            <a:r>
              <a:rPr lang="en-US" sz="125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business.google.com, firmin račun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06624"/>
            <a:ext cx="475488" cy="475488"/>
          </a:xfrm>
          <a:prstGeom prst="ellipse">
            <a:avLst/>
          </a:prstGeom>
          <a:solidFill>
            <a:srgbClr val="EE2C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6974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Kompletiranje profila:  </a:t>
            </a:r>
            <a:pPr indent="0" marL="0">
              <a:buNone/>
            </a:pPr>
            <a:r>
              <a:rPr lang="en-US" sz="125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kategorije, radno vrijeme (+ praznično!), telefon, link na novu stranicu, opis od 750 znakova spreman u vodiču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02736"/>
            <a:ext cx="475488" cy="475488"/>
          </a:xfrm>
          <a:prstGeom prst="ellipse">
            <a:avLst/>
          </a:prstGeom>
          <a:solidFill>
            <a:srgbClr val="6300D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02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59359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fotografija:  </a:t>
            </a:r>
            <a:pPr indent="0" marL="0">
              <a:buNone/>
            </a:pPr>
            <a:r>
              <a:rPr lang="en-US" sz="125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kutijice, vitrina, lokal, tim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98848"/>
            <a:ext cx="475488" cy="475488"/>
          </a:xfrm>
          <a:prstGeom prst="ellipse">
            <a:avLst/>
          </a:prstGeom>
          <a:solidFill>
            <a:srgbClr val="EE2C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98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48970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objava po planu kampanje:  </a:t>
            </a:r>
            <a:pPr indent="0" marL="0">
              <a:buNone/>
            </a:pPr>
            <a:r>
              <a:rPr lang="en-US" sz="125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 vizuali iz aktivnosti 2, bez dodatnog dizajna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475488" cy="475488"/>
          </a:xfrm>
          <a:prstGeom prst="ellipse">
            <a:avLst/>
          </a:prstGeom>
          <a:solidFill>
            <a:srgbClr val="6300D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394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38581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Recenzije:  </a:t>
            </a:r>
            <a:pPr indent="0" marL="0">
              <a:buNone/>
            </a:pPr>
            <a:r>
              <a:rPr lang="en-US" sz="125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kod na pultu + šablon odgovora na pozitivne i negativne (u roku 24–48 h)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35240" y="1783080"/>
            <a:ext cx="3977640" cy="4343400"/>
          </a:xfrm>
          <a:prstGeom prst="roundRect">
            <a:avLst>
              <a:gd name="adj" fmla="val 3218"/>
            </a:avLst>
          </a:prstGeom>
          <a:solidFill>
            <a:srgbClr val="F3EBFF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0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objava - decembar/januar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09560" y="24688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2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15. 12.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23960" y="24688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najava kampanje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09560" y="287121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2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20. 12.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23960" y="287121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ponuda: −20% (Offer objava)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09560" y="327355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2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27. 12.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23960" y="32735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ponuda sedmice (univerzalni)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09560" y="36758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2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30. 12.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23960" y="36758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„2 za 1“ za doček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09560" y="40782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2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2. 1.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823960" y="407822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nastavak do 15. 1.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09560" y="47091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Mjerenje: kartica „Izvedba“ (pregledi profila, klikovi na stranicu i upute), poređenje decembar vs. novembar.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50315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E2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REALIZACIJA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Četiri sedmice, mjerljiv rezultat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395728"/>
            <a:ext cx="9875520" cy="0"/>
          </a:xfrm>
          <a:prstGeom prst="line">
            <a:avLst/>
          </a:prstGeom>
          <a:noFill/>
          <a:ln w="31750">
            <a:solidFill>
              <a:srgbClr val="D8D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231136"/>
            <a:ext cx="329184" cy="329184"/>
          </a:xfrm>
          <a:prstGeom prst="ellipse">
            <a:avLst/>
          </a:prstGeom>
          <a:solidFill>
            <a:srgbClr val="6300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Sedmica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900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+ odobren prijedlog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39312" y="2231136"/>
            <a:ext cx="329184" cy="329184"/>
          </a:xfrm>
          <a:prstGeom prst="ellipse">
            <a:avLst/>
          </a:prstGeom>
          <a:solidFill>
            <a:srgbClr val="6300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Sedmice 2–3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29900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izrada web stranice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73952" y="2231136"/>
            <a:ext cx="329184" cy="329184"/>
          </a:xfrm>
          <a:prstGeom prst="ellipse">
            <a:avLst/>
          </a:prstGeom>
          <a:solidFill>
            <a:srgbClr val="6300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Sedmica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29900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dizajn 6 vizuala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08592" y="2231136"/>
            <a:ext cx="329184" cy="329184"/>
          </a:xfrm>
          <a:prstGeom prst="ellipse">
            <a:avLst/>
          </a:prstGeom>
          <a:solidFill>
            <a:srgbClr val="6300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Sedmica 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052560" y="29900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profil + primopredaja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2697480" cy="2011680"/>
          </a:xfrm>
          <a:prstGeom prst="roundRect">
            <a:avLst>
              <a:gd name="adj" fmla="val 6364"/>
            </a:avLst>
          </a:prstGeom>
          <a:solidFill>
            <a:srgbClr val="17104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06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KM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77240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budžet: studentski projekat, jedini trošak je postojeći hosting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29000" y="3977640"/>
            <a:ext cx="2697480" cy="2011680"/>
          </a:xfrm>
          <a:prstGeom prst="roundRect">
            <a:avLst>
              <a:gd name="adj" fmla="val 6364"/>
            </a:avLst>
          </a:prstGeom>
          <a:solidFill>
            <a:srgbClr val="F3EBF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4206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30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90+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3657600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ciljna PageSpeed ocjena nove stranice (mobilna)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3977640"/>
            <a:ext cx="2697480" cy="2011680"/>
          </a:xfrm>
          <a:prstGeom prst="roundRect">
            <a:avLst>
              <a:gd name="adj" fmla="val 6364"/>
            </a:avLst>
          </a:prstGeom>
          <a:solidFill>
            <a:srgbClr val="F3EBFF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4206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30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537960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kompletiranost Google Business Profila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89720" y="3977640"/>
            <a:ext cx="2697480" cy="2011680"/>
          </a:xfrm>
          <a:prstGeom prst="roundRect">
            <a:avLst>
              <a:gd name="adj" fmla="val 6364"/>
            </a:avLst>
          </a:prstGeom>
          <a:solidFill>
            <a:srgbClr val="F3EBFF"/>
          </a:solidFill>
          <a:ln/>
        </p:spPr>
      </p:sp>
      <p:sp>
        <p:nvSpPr>
          <p:cNvPr id="27" name="Text 25"/>
          <p:cNvSpPr/>
          <p:nvPr/>
        </p:nvSpPr>
        <p:spPr>
          <a:xfrm>
            <a:off x="9418320" y="4206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30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418320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5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objava i vizuala spremno prije 15. decembra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50315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2560320"/>
            <a:ext cx="7315200" cy="7315200"/>
          </a:xfrm>
          <a:prstGeom prst="ellipse">
            <a:avLst/>
          </a:prstGeom>
          <a:solidFill>
            <a:srgbClr val="EE2C8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566160"/>
            <a:ext cx="6858000" cy="6858000"/>
          </a:xfrm>
          <a:prstGeom prst="ellipse">
            <a:avLst/>
          </a:prstGeom>
          <a:solidFill>
            <a:srgbClr val="6300D5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38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ZAKLJUČAK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Cijeli put kupca, pokriven:
</a:t>
            </a:r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EE2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pronađe → provjeri → kupi.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3438144"/>
            <a:ext cx="164592" cy="164592"/>
          </a:xfrm>
          <a:prstGeom prst="ellipse">
            <a:avLst/>
          </a:prstGeom>
          <a:solidFill>
            <a:srgbClr val="EE2C8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3832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Business Profil:  </a:t>
            </a:r>
            <a:pPr indent="0" marL="0">
              <a:buNone/>
            </a:pPr>
            <a:r>
              <a:rPr lang="en-US" sz="1500" dirty="0">
                <a:solidFill>
                  <a:srgbClr val="D8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kupac PRONAĐE CityIce u pretrazi i na mapama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096512"/>
            <a:ext cx="164592" cy="164592"/>
          </a:xfrm>
          <a:prstGeom prst="ellipse">
            <a:avLst/>
          </a:prstGeom>
          <a:solidFill>
            <a:srgbClr val="EE2C82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0416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web stranica:  </a:t>
            </a:r>
            <a:pPr indent="0" marL="0">
              <a:buNone/>
            </a:pPr>
            <a:r>
              <a:rPr lang="en-US" sz="1500" dirty="0">
                <a:solidFill>
                  <a:srgbClr val="D8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kupac PROVJERI ponudu, lokaciju i radno vrijeme - na sigurnoj stranici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754880"/>
            <a:ext cx="164592" cy="164592"/>
          </a:xfrm>
          <a:prstGeom prst="ellipse">
            <a:avLst/>
          </a:prstGeom>
          <a:solidFill>
            <a:srgbClr val="EE2C82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70001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Novogodišnji vizuali:  </a:t>
            </a:r>
            <a:pPr indent="0" marL="0">
              <a:buNone/>
            </a:pPr>
            <a:r>
              <a:rPr lang="en-US" sz="1500" dirty="0">
                <a:solidFill>
                  <a:srgbClr val="D8D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kampanja ga UVJERI da praznike zasladi kutijicom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Hvala na pažnji!  ·  Amel Islamović  ·  amel@takumiagency.com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50315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2026-08-23T14:30:49Z</dcterms:created>
  <dcterms:modified xsi:type="dcterms:W3CDTF">2026-08-23T14:30:49Z</dcterms:modified>
</cp:coreProperties>
</file>